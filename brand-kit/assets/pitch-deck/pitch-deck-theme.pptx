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502920" y="502920"/>
            <a:ext cx="11201400" cy="5715000"/>
          </a:xfrm>
          <a:prstGeom prst="roundRect">
            <a:avLst/>
          </a:prstGeom>
          <a:solidFill>
            <a:srgbClr val="F4F7EF"/>
          </a:solidFill>
          <a:ln w="12700">
            <a:solidFill>
              <a:srgbClr val="DCE5D7"/>
            </a:solidFill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502920" y="502920"/>
            <a:ext cx="3977640" cy="5715000"/>
          </a:xfrm>
          <a:prstGeom prst="roundRect">
            <a:avLst/>
          </a:prstGeom>
          <a:solidFill>
            <a:srgbClr val="161A17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Mark 5"/>
          <p:cNvSpPr/>
          <p:nvPr/>
        </p:nvSpPr>
        <p:spPr>
          <a:xfrm rot="2700000">
            <a:off x="1051560" y="1234440"/>
            <a:ext cx="822960" cy="822960"/>
          </a:xfrm>
          <a:prstGeom prst="rtTriangle">
            <a:avLst/>
          </a:prstGeom>
          <a:solidFill>
            <a:srgbClr val="7CB342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1024128" y="2468880"/>
            <a:ext cx="301752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5000" b="1">
                <a:solidFill>
                  <a:srgbClr val="FFFFFF"/>
                </a:solidFill>
                <a:latin typeface="Arial"/>
              </a:rPr>
              <a:t>Pioneer</a:t>
            </a:r>
            <a:endParaRPr lang="en-US" sz="5000"/>
          </a:p>
          <a:p>
            <a:pPr>
              <a:spcBef>
                <a:spcPts val="1200"/>
              </a:spcBef>
            </a:pPr>
            <a:r>
              <a:rPr lang="en-US" sz="1300" b="1">
                <a:solidFill>
                  <a:srgbClr val="CFE7B7"/>
                </a:solidFill>
                <a:latin typeface="Courier New"/>
              </a:rPr>
              <a:t>BY FIND.HOW</a:t>
            </a:r>
            <a:endParaRPr lang="en-US" sz="1300"/>
          </a:p>
        </p:txBody>
      </p:sp>
      <p:sp>
        <p:nvSpPr>
          <p:cNvPr id="7" name="Text 7"/>
          <p:cNvSpPr txBox="1"/>
          <p:nvPr/>
        </p:nvSpPr>
        <p:spPr>
          <a:xfrm>
            <a:off x="5074920" y="1554480"/>
            <a:ext cx="6126480" cy="2103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4400" b="1">
                <a:solidFill>
                  <a:srgbClr val="161A17"/>
                </a:solidFill>
                <a:latin typeface="Arial"/>
              </a:rPr>
              <a:t>Write business logic.</a:t>
            </a:r>
            <a:endParaRPr lang="en-US" sz="4400"/>
          </a:p>
          <a:p>
            <a:pPr>
              <a:spcBef>
                <a:spcPts val="600"/>
              </a:spcBef>
            </a:pPr>
            <a:r>
              <a:rPr lang="en-US" sz="4400" b="1">
                <a:solidFill>
                  <a:srgbClr val="2D7A3E"/>
                </a:solidFill>
                <a:latin typeface="Arial"/>
              </a:rPr>
              <a:t>Ship edge infrastructure.</a:t>
            </a:r>
            <a:endParaRPr lang="en-US" sz="4400"/>
          </a:p>
        </p:txBody>
      </p:sp>
      <p:sp>
        <p:nvSpPr>
          <p:cNvPr id="8" name="Text 8"/>
          <p:cNvSpPr txBox="1"/>
          <p:nvPr/>
        </p:nvSpPr>
        <p:spPr>
          <a:xfrm>
            <a:off x="5120640" y="3840480"/>
            <a:ext cx="5943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1800" b="1">
                <a:solidFill>
                  <a:srgbClr val="525252"/>
                </a:solidFill>
                <a:latin typeface="Arial"/>
              </a:rPr>
              <a:t>The full-stack TypeScript framework that compiles to the edge.</a:t>
            </a:r>
            <a:endParaRPr lang="en-US" sz="1800"/>
          </a:p>
        </p:txBody>
      </p:sp>
      <p:sp>
        <p:nvSpPr>
          <p:cNvPr id="9" name="Text 9"/>
          <p:cNvSpPr txBox="1"/>
          <p:nvPr/>
        </p:nvSpPr>
        <p:spPr>
          <a:xfrm>
            <a:off x="5120640" y="4892040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1400" b="1">
                <a:solidFill>
                  <a:srgbClr val="D9A441"/>
                </a:solidFill>
                <a:latin typeface="Courier New"/>
              </a:rPr>
              <a:t>AI writes code. Pioneer makes it deployable.</a:t>
            </a:r>
            <a:endParaRPr 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685800" y="50292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1600" b="1">
                <a:solidFill>
                  <a:srgbClr val="2D7A3E"/>
                </a:solidFill>
                <a:latin typeface="Courier New"/>
              </a:rPr>
              <a:t>The wedge</a:t>
            </a:r>
            <a:endParaRPr lang="en-US" sz="1600"/>
          </a:p>
          <a:p>
            <a:pPr>
              <a:spcBef>
                <a:spcPts val="550"/>
              </a:spcBef>
            </a:pPr>
            <a:r>
              <a:rPr lang="en-US" sz="3700" b="1">
                <a:solidFill>
                  <a:srgbClr val="161A17"/>
                </a:solidFill>
                <a:latin typeface="Arial"/>
              </a:rPr>
              <a:t>Generated code still needs infrastructure.</a:t>
            </a:r>
            <a:endParaRPr lang="en-US" sz="3700"/>
          </a:p>
        </p:txBody>
      </p:sp>
      <p:sp>
        <p:nvSpPr>
          <p:cNvPr id="4" name="Shape 4"/>
          <p:cNvSpPr/>
          <p:nvPr/>
        </p:nvSpPr>
        <p:spPr>
          <a:xfrm>
            <a:off x="731520" y="1920240"/>
            <a:ext cx="3246120" cy="3291840"/>
          </a:xfrm>
          <a:prstGeom prst="roundRect">
            <a:avLst/>
          </a:prstGeom>
          <a:solidFill>
            <a:srgbClr val="F4F7EF"/>
          </a:solidFill>
          <a:ln w="12700">
            <a:solidFill>
              <a:srgbClr val="DCE5D7"/>
            </a:solidFill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4480560" y="1920240"/>
            <a:ext cx="3246120" cy="3291840"/>
          </a:xfrm>
          <a:prstGeom prst="roundRect">
            <a:avLst/>
          </a:prstGeom>
          <a:solidFill>
            <a:srgbClr val="F4F7EF"/>
          </a:solidFill>
          <a:ln w="12700">
            <a:solidFill>
              <a:srgbClr val="DCE5D7"/>
            </a:solidFill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8229600" y="1920240"/>
            <a:ext cx="3246120" cy="3291840"/>
          </a:xfrm>
          <a:prstGeom prst="roundRect">
            <a:avLst/>
          </a:prstGeom>
          <a:solidFill>
            <a:srgbClr val="161A17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1005840" y="2240280"/>
            <a:ext cx="265176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3000" b="1">
                <a:solidFill>
                  <a:srgbClr val="161A17"/>
                </a:solidFill>
                <a:latin typeface="Arial"/>
              </a:rPr>
              <a:t>AI</a:t>
            </a:r>
            <a:endParaRPr lang="en-US" sz="3000"/>
          </a:p>
          <a:p>
            <a:pPr>
              <a:spcBef>
                <a:spcPts val="800"/>
              </a:spcBef>
            </a:pPr>
            <a:r>
              <a:rPr lang="en-US" sz="1800">
                <a:solidFill>
                  <a:srgbClr val="525252"/>
                </a:solidFill>
                <a:latin typeface="Arial"/>
              </a:rPr>
              <a:t>Generates useful business logic quickly.</a:t>
            </a:r>
            <a:endParaRPr lang="en-US" sz="1800"/>
          </a:p>
        </p:txBody>
      </p:sp>
      <p:sp>
        <p:nvSpPr>
          <p:cNvPr id="8" name="Text 8"/>
          <p:cNvSpPr txBox="1"/>
          <p:nvPr/>
        </p:nvSpPr>
        <p:spPr>
          <a:xfrm>
            <a:off x="4754880" y="2240280"/>
            <a:ext cx="265176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3000" b="1">
                <a:solidFill>
                  <a:srgbClr val="161A17"/>
                </a:solidFill>
                <a:latin typeface="Arial"/>
              </a:rPr>
              <a:t>Gap</a:t>
            </a:r>
            <a:endParaRPr lang="en-US" sz="3000"/>
          </a:p>
          <a:p>
            <a:pPr>
              <a:spcBef>
                <a:spcPts val="800"/>
              </a:spcBef>
            </a:pPr>
            <a:r>
              <a:rPr lang="en-US" sz="1800">
                <a:solidFill>
                  <a:srgbClr val="525252"/>
                </a:solidFill>
                <a:latin typeface="Arial"/>
              </a:rPr>
              <a:t>The code still needs routes, bindings, jobs, auth, logs, and a deploy path.</a:t>
            </a:r>
            <a:endParaRPr lang="en-US" sz="1800"/>
          </a:p>
        </p:txBody>
      </p:sp>
      <p:sp>
        <p:nvSpPr>
          <p:cNvPr id="9" name="Text 9"/>
          <p:cNvSpPr txBox="1"/>
          <p:nvPr/>
        </p:nvSpPr>
        <p:spPr>
          <a:xfrm>
            <a:off x="8503920" y="2240280"/>
            <a:ext cx="265176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3000" b="1">
                <a:solidFill>
                  <a:srgbClr val="FFFFFF"/>
                </a:solidFill>
                <a:latin typeface="Arial"/>
              </a:rPr>
              <a:t>Pioneer</a:t>
            </a:r>
            <a:endParaRPr lang="en-US" sz="3000"/>
          </a:p>
          <a:p>
            <a:pPr>
              <a:spcBef>
                <a:spcPts val="800"/>
              </a:spcBef>
            </a:pPr>
            <a:r>
              <a:rPr lang="en-US" sz="1800">
                <a:solidFill>
                  <a:srgbClr val="CFE7B7"/>
                </a:solidFill>
                <a:latin typeface="Arial"/>
              </a:rPr>
              <a:t>Turns generated business logic into a running Cloudflare-shaped app.</a:t>
            </a:r>
            <a:endParaRPr lang="en-US" sz="1800"/>
          </a:p>
        </p:txBody>
      </p:sp>
      <p:sp>
        <p:nvSpPr>
          <p:cNvPr id="10" name="Text 10"/>
          <p:cNvSpPr txBox="1"/>
          <p:nvPr/>
        </p:nvSpPr>
        <p:spPr>
          <a:xfrm>
            <a:off x="594360" y="6446520"/>
            <a:ext cx="10972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900" b="1">
                <a:solidFill>
                  <a:srgbClr val="525252"/>
                </a:solidFill>
                <a:latin typeface="Courier New"/>
              </a:rPr>
              <a:t>Pioneer by find.how / 2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1500" b="1">
                <a:solidFill>
                  <a:srgbClr val="2D7A3E"/>
                </a:solidFill>
                <a:latin typeface="Courier New"/>
              </a:rPr>
              <a:t>Canonical demo</a:t>
            </a:r>
            <a:endParaRPr lang="en-US" sz="1500"/>
          </a:p>
          <a:p>
            <a:pPr>
              <a:spcBef>
                <a:spcPts val="450"/>
              </a:spcBef>
            </a:pPr>
            <a:r>
              <a:rPr lang="en-US" sz="3400" b="1">
                <a:solidFill>
                  <a:srgbClr val="161A17"/>
                </a:solidFill>
                <a:latin typeface="Arial"/>
              </a:rPr>
              <a:t>Ask for checkout. Pioneer runs the app.</a:t>
            </a:r>
            <a:endParaRPr lang="en-US" sz="3400"/>
          </a:p>
        </p:txBody>
      </p:sp>
      <p:sp>
        <p:nvSpPr>
          <p:cNvPr id="4" name="Shape 4"/>
          <p:cNvSpPr/>
          <p:nvPr/>
        </p:nvSpPr>
        <p:spPr>
          <a:xfrm>
            <a:off x="731520" y="1691640"/>
            <a:ext cx="5303520" cy="4297680"/>
          </a:xfrm>
          <a:prstGeom prst="roundRect">
            <a:avLst/>
          </a:prstGeom>
          <a:solidFill>
            <a:srgbClr val="171717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1005840" y="1938528"/>
            <a:ext cx="4754880" cy="3566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1200" b="1">
                <a:solidFill>
                  <a:srgbClr val="737373"/>
                </a:solidFill>
                <a:latin typeface="Courier New"/>
              </a:rPr>
              <a:t>app/routes/web.ts</a:t>
            </a:r>
            <a:endParaRPr lang="en-US" sz="1200"/>
          </a:p>
          <a:p>
            <a:pPr>
              <a:spcBef>
                <a:spcPts val="700"/>
              </a:spcBef>
            </a:pPr>
            <a:r>
              <a:rPr lang="en-US" sz="1300">
                <a:solidFill>
                  <a:srgbClr val="E5E5E5"/>
                </a:solidFill>
                <a:latin typeface="Courier New"/>
              </a:rPr>
              <a:t>Route.post("/checkout", async ({ request }) =&gt; {</a:t>
            </a:r>
            <a:endParaRPr lang="en-US" sz="1300"/>
          </a:p>
          <a:p>
            <a:pPr>
              <a:spcBef>
                <a:spcPts val="350"/>
              </a:spcBef>
            </a:pPr>
            <a:r>
              <a:rPr lang="en-US" sz="1300">
                <a:solidFill>
                  <a:srgbClr val="CFE7B7"/>
                </a:solidFill>
                <a:latin typeface="Courier New"/>
              </a:rPr>
              <a:t>  const order = await DB.table("orders").create(input);</a:t>
            </a:r>
            <a:endParaRPr lang="en-US" sz="1300"/>
          </a:p>
          <a:p>
            <a:pPr>
              <a:spcBef>
                <a:spcPts val="350"/>
              </a:spcBef>
            </a:pPr>
            <a:r>
              <a:rPr lang="en-US" sz="1300">
                <a:solidFill>
                  <a:srgbClr val="CFE7B7"/>
                </a:solidFill>
                <a:latin typeface="Courier New"/>
              </a:rPr>
              <a:t>  await Cache.set(`order:${order.id}`, order);</a:t>
            </a:r>
            <a:endParaRPr lang="en-US" sz="1300"/>
          </a:p>
          <a:p>
            <a:pPr>
              <a:spcBef>
                <a:spcPts val="350"/>
              </a:spcBef>
            </a:pPr>
            <a:r>
              <a:rPr lang="en-US" sz="1300">
                <a:solidFill>
                  <a:srgbClr val="CFE7B7"/>
                </a:solidFill>
                <a:latin typeface="Courier New"/>
              </a:rPr>
              <a:t>  await Queue.dispatch("send-receipt", { orderId: order.id });</a:t>
            </a:r>
            <a:endParaRPr lang="en-US" sz="1300"/>
          </a:p>
          <a:p>
            <a:pPr>
              <a:spcBef>
                <a:spcPts val="350"/>
              </a:spcBef>
            </a:pPr>
            <a:r>
              <a:rPr lang="en-US" sz="1300">
                <a:solidFill>
                  <a:srgbClr val="E5E5E5"/>
                </a:solidFill>
                <a:latin typeface="Courier New"/>
              </a:rPr>
              <a:t>  return Response.json({ ok: true, order }, { status: 201 });</a:t>
            </a:r>
            <a:endParaRPr lang="en-US" sz="1300"/>
          </a:p>
          <a:p>
            <a:pPr>
              <a:spcBef>
                <a:spcPts val="350"/>
              </a:spcBef>
            </a:pPr>
            <a:r>
              <a:rPr lang="en-US" sz="1300">
                <a:solidFill>
                  <a:srgbClr val="E5E5E5"/>
                </a:solidFill>
                <a:latin typeface="Courier New"/>
              </a:rPr>
              <a:t>}).middleware(["auth", "verified"]);</a:t>
            </a:r>
            <a:endParaRPr lang="en-US" sz="1300"/>
          </a:p>
        </p:txBody>
      </p:sp>
      <p:sp>
        <p:nvSpPr>
          <p:cNvPr id="6" name="Shape 6"/>
          <p:cNvSpPr/>
          <p:nvPr/>
        </p:nvSpPr>
        <p:spPr>
          <a:xfrm>
            <a:off x="6400800" y="1691640"/>
            <a:ext cx="4846320" cy="4297680"/>
          </a:xfrm>
          <a:prstGeom prst="roundRect">
            <a:avLst/>
          </a:prstGeom>
          <a:solidFill>
            <a:srgbClr val="F4F7EF"/>
          </a:solidFill>
          <a:ln w="12700">
            <a:solidFill>
              <a:srgbClr val="DCE5D7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6720840" y="1993392"/>
            <a:ext cx="4297680" cy="3337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1800" b="1">
                <a:solidFill>
                  <a:srgbClr val="161A17"/>
                </a:solidFill>
                <a:latin typeface="Arial"/>
              </a:rPr>
              <a:t>Route -&gt; Worker HTTP entrypoint</a:t>
            </a:r>
            <a:endParaRPr lang="en-US" sz="1800"/>
          </a:p>
          <a:p>
            <a:pPr>
              <a:spcBef>
                <a:spcPts val="650"/>
              </a:spcBef>
            </a:pPr>
            <a:r>
              <a:rPr lang="en-US" sz="1800" b="1">
                <a:solidFill>
                  <a:srgbClr val="2D7A3E"/>
                </a:solidFill>
                <a:latin typeface="Arial"/>
              </a:rPr>
              <a:t>DB -&gt; D1 checkout-db</a:t>
            </a:r>
            <a:endParaRPr lang="en-US" sz="1800"/>
          </a:p>
          <a:p>
            <a:pPr>
              <a:spcBef>
                <a:spcPts val="650"/>
              </a:spcBef>
            </a:pPr>
            <a:r>
              <a:rPr lang="en-US" sz="1800" b="1">
                <a:solidFill>
                  <a:srgbClr val="2D7A3E"/>
                </a:solidFill>
                <a:latin typeface="Arial"/>
              </a:rPr>
              <a:t>Cache -&gt; edge cache</a:t>
            </a:r>
            <a:endParaRPr lang="en-US" sz="1800"/>
          </a:p>
          <a:p>
            <a:pPr>
              <a:spcBef>
                <a:spcPts val="650"/>
              </a:spcBef>
            </a:pPr>
            <a:r>
              <a:rPr lang="en-US" sz="1800" b="1">
                <a:solidFill>
                  <a:srgbClr val="2D7A3E"/>
                </a:solidFill>
                <a:latin typeface="Arial"/>
              </a:rPr>
              <a:t>Queue -&gt; send-receipt job</a:t>
            </a:r>
            <a:endParaRPr lang="en-US" sz="1800"/>
          </a:p>
          <a:p>
            <a:pPr>
              <a:spcBef>
                <a:spcPts val="650"/>
              </a:spcBef>
            </a:pPr>
            <a:r>
              <a:rPr lang="en-US" sz="1800" b="1">
                <a:solidFill>
                  <a:srgbClr val="D9A441"/>
                </a:solidFill>
                <a:latin typeface="Arial"/>
              </a:rPr>
              <a:t>Wrangler -&gt; 201 Created</a:t>
            </a:r>
            <a:endParaRPr lang="en-US" sz="1800"/>
          </a:p>
        </p:txBody>
      </p:sp>
      <p:sp>
        <p:nvSpPr>
          <p:cNvPr id="8" name="Text 8"/>
          <p:cNvSpPr txBox="1"/>
          <p:nvPr/>
        </p:nvSpPr>
        <p:spPr>
          <a:xfrm>
            <a:off x="594360" y="6446520"/>
            <a:ext cx="10972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900" b="1">
                <a:solidFill>
                  <a:srgbClr val="525252"/>
                </a:solidFill>
                <a:latin typeface="Courier New"/>
              </a:rPr>
              <a:t>Pioneer by find.how / 3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685800" y="502920"/>
            <a:ext cx="1078992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1500" b="1">
                <a:solidFill>
                  <a:srgbClr val="2D7A3E"/>
                </a:solidFill>
                <a:latin typeface="Courier New"/>
              </a:rPr>
              <a:t>Product hierarchy</a:t>
            </a:r>
            <a:endParaRPr lang="en-US" sz="1500"/>
          </a:p>
          <a:p>
            <a:pPr>
              <a:spcBef>
                <a:spcPts val="450"/>
              </a:spcBef>
            </a:pPr>
            <a:r>
              <a:rPr lang="en-US" sz="3400" b="1">
                <a:solidFill>
                  <a:srgbClr val="161A17"/>
                </a:solidFill>
                <a:latin typeface="Arial"/>
              </a:rPr>
              <a:t>Public story first. Compiler proof second.</a:t>
            </a:r>
            <a:endParaRPr lang="en-US" sz="3400"/>
          </a:p>
        </p:txBody>
      </p:sp>
      <p:sp>
        <p:nvSpPr>
          <p:cNvPr id="4" name="Shape 4"/>
          <p:cNvSpPr/>
          <p:nvPr/>
        </p:nvSpPr>
        <p:spPr>
          <a:xfrm>
            <a:off x="777240" y="1874520"/>
            <a:ext cx="4983480" cy="3474720"/>
          </a:xfrm>
          <a:prstGeom prst="roundRect">
            <a:avLst/>
          </a:prstGeom>
          <a:solidFill>
            <a:srgbClr val="F4F7EF"/>
          </a:solidFill>
          <a:ln w="12700">
            <a:solidFill>
              <a:srgbClr val="DCE5D7"/>
            </a:solidFill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6400800" y="1874520"/>
            <a:ext cx="4983480" cy="3474720"/>
          </a:xfrm>
          <a:prstGeom prst="roundRect">
            <a:avLst/>
          </a:prstGeom>
          <a:solidFill>
            <a:srgbClr val="161A17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1097280" y="2194560"/>
            <a:ext cx="4389120" cy="2560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2600" b="1">
                <a:solidFill>
                  <a:srgbClr val="161A17"/>
                </a:solidFill>
                <a:latin typeface="Arial"/>
              </a:rPr>
              <a:t>Public</a:t>
            </a:r>
            <a:endParaRPr lang="en-US" sz="2600"/>
          </a:p>
          <a:p>
            <a:pPr>
              <a:spcBef>
                <a:spcPts val="650"/>
              </a:spcBef>
            </a:pPr>
            <a:r>
              <a:rPr lang="en-US" sz="1800">
                <a:solidFill>
                  <a:srgbClr val="525252"/>
                </a:solidFill>
                <a:latin typeface="Arial"/>
              </a:rPr>
              <a:t>Full-stack TypeScript framework</a:t>
            </a:r>
            <a:endParaRPr lang="en-US" sz="1800"/>
          </a:p>
          <a:p>
            <a:pPr>
              <a:spcBef>
                <a:spcPts val="400"/>
              </a:spcBef>
            </a:pPr>
            <a:r>
              <a:rPr lang="en-US" sz="1800">
                <a:solidFill>
                  <a:srgbClr val="525252"/>
                </a:solidFill>
                <a:latin typeface="Arial"/>
              </a:rPr>
              <a:t>Compiles to Cloudflare edge infrastructure</a:t>
            </a:r>
            <a:endParaRPr lang="en-US" sz="1800"/>
          </a:p>
          <a:p>
            <a:pPr>
              <a:spcBef>
                <a:spcPts val="400"/>
              </a:spcBef>
            </a:pPr>
            <a:r>
              <a:rPr lang="en-US" sz="1800">
                <a:solidFill>
                  <a:srgbClr val="525252"/>
                </a:solidFill>
                <a:latin typeface="Arial"/>
              </a:rPr>
              <a:t>AI-friendly generated business logic</a:t>
            </a:r>
            <a:endParaRPr lang="en-US" sz="1800"/>
          </a:p>
        </p:txBody>
      </p:sp>
      <p:sp>
        <p:nvSpPr>
          <p:cNvPr id="7" name="Text 7"/>
          <p:cNvSpPr txBox="1"/>
          <p:nvPr/>
        </p:nvSpPr>
        <p:spPr>
          <a:xfrm>
            <a:off x="6720840" y="2194560"/>
            <a:ext cx="4389120" cy="2560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2600" b="1">
                <a:solidFill>
                  <a:srgbClr val="FFFFFF"/>
                </a:solidFill>
                <a:latin typeface="Arial"/>
              </a:rPr>
              <a:t>Moat</a:t>
            </a:r>
            <a:endParaRPr lang="en-US" sz="2600"/>
          </a:p>
          <a:p>
            <a:pPr>
              <a:spcBef>
                <a:spcPts val="650"/>
              </a:spcBef>
            </a:pPr>
            <a:r>
              <a:rPr lang="en-US" sz="1800">
                <a:solidFill>
                  <a:srgbClr val="CFE7B7"/>
                </a:solidFill>
                <a:latin typeface="Arial"/>
              </a:rPr>
              <a:t>Rust compiler</a:t>
            </a:r>
            <a:endParaRPr lang="en-US" sz="1800"/>
          </a:p>
          <a:p>
            <a:pPr>
              <a:spcBef>
                <a:spcPts val="400"/>
              </a:spcBef>
            </a:pPr>
            <a:r>
              <a:rPr lang="en-US" sz="1800">
                <a:solidFill>
                  <a:srgbClr val="CFE7B7"/>
                </a:solidFill>
                <a:latin typeface="Arial"/>
              </a:rPr>
              <a:t>TypeGraph</a:t>
            </a:r>
            <a:endParaRPr lang="en-US" sz="1800"/>
          </a:p>
          <a:p>
            <a:pPr>
              <a:spcBef>
                <a:spcPts val="400"/>
              </a:spcBef>
            </a:pPr>
            <a:r>
              <a:rPr lang="en-US" sz="1800">
                <a:solidFill>
                  <a:srgbClr val="CFE7B7"/>
                </a:solidFill>
                <a:latin typeface="Arial"/>
              </a:rPr>
              <a:t>Cloudflare mapping and verification</a:t>
            </a:r>
            <a:endParaRPr lang="en-US" sz="1800"/>
          </a:p>
        </p:txBody>
      </p:sp>
      <p:sp>
        <p:nvSpPr>
          <p:cNvPr id="8" name="Text 8"/>
          <p:cNvSpPr txBox="1"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1400" b="1">
                <a:solidFill>
                  <a:srgbClr val="D9A441"/>
                </a:solidFill>
                <a:latin typeface="Courier New"/>
              </a:rPr>
              <a:t>The market-facing wedge is the demo: AI generates useful app code. Pioneer makes it real.</a:t>
            </a:r>
            <a:endParaRPr lang="en-US" sz="1400"/>
          </a:p>
        </p:txBody>
      </p:sp>
      <p:sp>
        <p:nvSpPr>
          <p:cNvPr id="9" name="Text 9"/>
          <p:cNvSpPr txBox="1"/>
          <p:nvPr/>
        </p:nvSpPr>
        <p:spPr>
          <a:xfrm>
            <a:off x="594360" y="6446520"/>
            <a:ext cx="10972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US" sz="900" b="1">
                <a:solidFill>
                  <a:srgbClr val="525252"/>
                </a:solidFill>
                <a:latin typeface="Courier New"/>
              </a:rPr>
              <a:t>Pioneer by find.how / 4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oneer">
  <a:themeElements>
    <a:clrScheme name="Pioneer">
      <a:dk1>
        <a:srgbClr val="161A17"/>
      </a:dk1>
      <a:lt1>
        <a:srgbClr val="FFFFFF"/>
      </a:lt1>
      <a:dk2>
        <a:srgbClr val="171717"/>
      </a:dk2>
      <a:lt2>
        <a:srgbClr val="F4F7EF"/>
      </a:lt2>
      <a:accent1>
        <a:srgbClr val="2D7A3E"/>
      </a:accent1>
      <a:accent2>
        <a:srgbClr val="4A9D5F"/>
      </a:accent2>
      <a:accent3>
        <a:srgbClr val="7CB342"/>
      </a:accent3>
      <a:accent4>
        <a:srgbClr val="D9A441"/>
      </a:accent4>
      <a:accent5>
        <a:srgbClr val="525252"/>
      </a:accent5>
      <a:accent6>
        <a:srgbClr val="CFE7B7"/>
      </a:accent6>
      <a:hlink>
        <a:srgbClr val="2D7A3E"/>
      </a:hlink>
      <a:folHlink>
        <a:srgbClr val="2D7A3E"/>
      </a:folHlink>
    </a:clrScheme>
    <a:fontScheme name="Pioneer">
      <a:majorFont>
        <a:latin typeface="Arial"/>
      </a:majorFont>
      <a:minorFont>
        <a:latin typeface="Arial"/>
      </a:minorFont>
    </a:fontScheme>
    <a:fmtScheme name="Pioneer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Pioneer Brand Kit</Application>
  <PresentationFormat>On-screen Show (16:9)</PresentationFormat>
  <Slides>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Pioneer Pitch Deck Theme</dc:title>
  <dc:creator>find.how</dc:creator>
  <cp:keywords>Pioneer, Cloudflare, TypeScript, brand kit</cp:keywords>
  <dc:description>Pitch deck starter for Pioneer brand messaging.</dc:description>
</cp:coreProperties>
</file>